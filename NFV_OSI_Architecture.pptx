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914400"/>
            <a:ext cx="1463040" cy="54864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55680" y="1463040"/>
            <a:ext cx="-731520" cy="91440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2377440"/>
            <a:ext cx="1097280" cy="54864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0" y="2926080"/>
            <a:ext cx="-2011680" cy="9144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0" y="822960"/>
            <a:ext cx="182880" cy="182880"/>
          </a:xfrm>
          <a:prstGeom prst="ellipse">
            <a:avLst/>
          </a:prstGeom>
          <a:solidFill>
            <a:srgbClr val="5FD0C6"/>
          </a:solidFill>
          <a:ln/>
        </p:spPr>
      </p:sp>
      <p:sp>
        <p:nvSpPr>
          <p:cNvPr id="7" name="Shape 5"/>
          <p:cNvSpPr/>
          <p:nvPr/>
        </p:nvSpPr>
        <p:spPr>
          <a:xfrm>
            <a:off x="11064240" y="1371600"/>
            <a:ext cx="182880" cy="182880"/>
          </a:xfrm>
          <a:prstGeom prst="ellipse">
            <a:avLst/>
          </a:prstGeom>
          <a:solidFill>
            <a:srgbClr val="E8F1F5"/>
          </a:solidFill>
          <a:ln/>
        </p:spPr>
      </p:sp>
      <p:sp>
        <p:nvSpPr>
          <p:cNvPr id="8" name="Shape 6"/>
          <p:cNvSpPr/>
          <p:nvPr/>
        </p:nvSpPr>
        <p:spPr>
          <a:xfrm>
            <a:off x="10332720" y="2286000"/>
            <a:ext cx="182880" cy="182880"/>
          </a:xfrm>
          <a:prstGeom prst="ellipse">
            <a:avLst/>
          </a:prstGeom>
          <a:solidFill>
            <a:srgbClr val="5FD0C6"/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0" y="2834640"/>
            <a:ext cx="182880" cy="182880"/>
          </a:xfrm>
          <a:prstGeom prst="ellipse">
            <a:avLst/>
          </a:prstGeom>
          <a:solidFill>
            <a:srgbClr val="E8F1F5"/>
          </a:solidFill>
          <a:ln/>
        </p:spPr>
      </p:sp>
      <p:sp>
        <p:nvSpPr>
          <p:cNvPr id="10" name="Shape 8"/>
          <p:cNvSpPr/>
          <p:nvPr/>
        </p:nvSpPr>
        <p:spPr>
          <a:xfrm>
            <a:off x="9418320" y="2926080"/>
            <a:ext cx="182880" cy="182880"/>
          </a:xfrm>
          <a:prstGeom prst="ellipse">
            <a:avLst/>
          </a:prstGeom>
          <a:solidFill>
            <a:srgbClr val="5FD0C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317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FUNCTION VIRTUALIZATION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40080" y="3063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5FD0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the OSI Architecture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40080" y="397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Networks  |  Seminar Presentation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Network Function Virtualization?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6309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NFV decouples network functions — firewalls, routers, load balancers, NAT, IDS — from proprietary, purpose-built hardware appliances.</a:t>
            </a:r>
            <a:endParaRPr lang="en-US" sz="1450" dirty="0"/>
          </a:p>
          <a:p>
            <a:pPr algn="l"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functions are re-implemented as software modules called Virtualized Network Functions (VNFs), running as virtual machines or containers on standard, high-volume servers (COTS hardware).</a:t>
            </a:r>
            <a:endParaRPr lang="en-US" sz="1450" dirty="0"/>
          </a:p>
          <a:p>
            <a:pPr algn="l"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by the ETSI NFV Industry Specification Group (ISG) in 2012, initiated by major telecom operators (AT&amp;T, Deutsche Telekom, Orange, etc.).</a:t>
            </a:r>
            <a:endParaRPr lang="en-US" sz="1450" dirty="0"/>
          </a:p>
          <a:p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principle: separate the network function (software) from the infrastructure it runs on, enabling deployment, scaling, and migration through software control instead of hardware installation.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315200" y="1371600"/>
            <a:ext cx="4114800" cy="1463040"/>
          </a:xfrm>
          <a:prstGeom prst="roundRect">
            <a:avLst>
              <a:gd name="adj" fmla="val 5000"/>
            </a:avLst>
          </a:prstGeom>
          <a:solidFill>
            <a:srgbClr val="E8F1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0" y="15087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Network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0" y="18288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hardware boxes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(Router, Firewall, LB, IDS)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function per appliance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9098280" y="2926080"/>
            <a:ext cx="548640" cy="502920"/>
          </a:xfrm>
          <a:prstGeom prst="downArrow">
            <a:avLst/>
          </a:prstGeom>
          <a:solidFill>
            <a:srgbClr val="5FD0C6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0" y="3520440"/>
            <a:ext cx="4114800" cy="146304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0" y="3657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NFV-Enabled Network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0" y="39776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VNFs on standard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— virtual routers,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firewalls, load balancers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0" y="51663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reduce CAPEX/OPEX, speed up service deployment, enable elastic scaling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NFV Reference Architecture (ETSI MANO)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7040880" cy="685800"/>
          </a:xfrm>
          <a:prstGeom prst="roundRect">
            <a:avLst>
              <a:gd name="adj" fmla="val 6667"/>
            </a:avLst>
          </a:prstGeom>
          <a:solidFill>
            <a:srgbClr val="21295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43000"/>
            <a:ext cx="7040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 / BSS  (Operations &amp; Business Support Systems)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7040880" cy="1417320"/>
          </a:xfrm>
          <a:prstGeom prst="roundRect">
            <a:avLst>
              <a:gd name="adj" fmla="val 3226"/>
            </a:avLst>
          </a:prstGeom>
          <a:solidFill>
            <a:srgbClr val="E8F1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0312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Virtualized Network Functions (VNF) Layer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31520" y="2468880"/>
            <a:ext cx="1554480" cy="868680"/>
          </a:xfrm>
          <a:prstGeom prst="roundRect">
            <a:avLst>
              <a:gd name="adj" fmla="val 6316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46888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vFirewall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23160" y="2468880"/>
            <a:ext cx="1554480" cy="868680"/>
          </a:xfrm>
          <a:prstGeom prst="roundRect">
            <a:avLst>
              <a:gd name="adj" fmla="val 6316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2423160" y="246888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vRouter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0" y="2468880"/>
            <a:ext cx="1554480" cy="868680"/>
          </a:xfrm>
          <a:prstGeom prst="roundRect">
            <a:avLst>
              <a:gd name="adj" fmla="val 6316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0" y="246888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vLoad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06440" y="2468880"/>
            <a:ext cx="1554480" cy="868680"/>
          </a:xfrm>
          <a:prstGeom prst="roundRect">
            <a:avLst>
              <a:gd name="adj" fmla="val 6316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5806440" y="246888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vIDS/IPS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7040880" cy="548640"/>
          </a:xfrm>
          <a:prstGeom prst="roundRect">
            <a:avLst>
              <a:gd name="adj" fmla="val 8333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65760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 Layer (Hypervisor / Container Runtime)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389120"/>
            <a:ext cx="7040880" cy="1188720"/>
          </a:xfrm>
          <a:prstGeom prst="roundRect">
            <a:avLst>
              <a:gd name="adj" fmla="val 3846"/>
            </a:avLst>
          </a:prstGeom>
          <a:solidFill>
            <a:srgbClr val="E8F1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43484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NFV Infrastructure (NFVI) — COTS Hardware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" y="4800600"/>
            <a:ext cx="2148840" cy="658368"/>
          </a:xfrm>
          <a:prstGeom prst="roundRect">
            <a:avLst>
              <a:gd name="adj" fmla="val 8333"/>
            </a:avLst>
          </a:prstGeom>
          <a:solidFill>
            <a:srgbClr val="21295C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800600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063240" y="4800600"/>
            <a:ext cx="2148840" cy="658368"/>
          </a:xfrm>
          <a:prstGeom prst="roundRect">
            <a:avLst>
              <a:gd name="adj" fmla="val 8333"/>
            </a:avLst>
          </a:prstGeom>
          <a:solidFill>
            <a:srgbClr val="21295C"/>
          </a:solidFill>
          <a:ln/>
        </p:spPr>
      </p:sp>
      <p:sp>
        <p:nvSpPr>
          <p:cNvPr id="22" name="Text 20"/>
          <p:cNvSpPr/>
          <p:nvPr/>
        </p:nvSpPr>
        <p:spPr>
          <a:xfrm>
            <a:off x="3063240" y="4800600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394960" y="4800600"/>
            <a:ext cx="2148840" cy="658368"/>
          </a:xfrm>
          <a:prstGeom prst="roundRect">
            <a:avLst>
              <a:gd name="adj" fmla="val 8333"/>
            </a:avLst>
          </a:prstGeom>
          <a:solidFill>
            <a:srgbClr val="21295C"/>
          </a:solidFill>
          <a:ln/>
        </p:spPr>
      </p:sp>
      <p:sp>
        <p:nvSpPr>
          <p:cNvPr id="24" name="Text 22"/>
          <p:cNvSpPr/>
          <p:nvPr/>
        </p:nvSpPr>
        <p:spPr>
          <a:xfrm>
            <a:off x="5394960" y="4800600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069080" y="1874520"/>
            <a:ext cx="0" cy="182880"/>
          </a:xfrm>
          <a:prstGeom prst="line">
            <a:avLst/>
          </a:prstGeom>
          <a:noFill/>
          <a:ln w="19050">
            <a:solidFill>
              <a:srgbClr val="445566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069080" y="3520440"/>
            <a:ext cx="0" cy="182880"/>
          </a:xfrm>
          <a:prstGeom prst="line">
            <a:avLst/>
          </a:prstGeom>
          <a:noFill/>
          <a:ln w="19050">
            <a:solidFill>
              <a:srgbClr val="445566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069080" y="4251960"/>
            <a:ext cx="0" cy="182880"/>
          </a:xfrm>
          <a:prstGeom prst="line">
            <a:avLst/>
          </a:prstGeom>
          <a:noFill/>
          <a:ln w="19050">
            <a:solidFill>
              <a:srgbClr val="44556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955280" y="1143000"/>
            <a:ext cx="3657600" cy="4434840"/>
          </a:xfrm>
          <a:prstGeom prst="roundRect">
            <a:avLst>
              <a:gd name="adj" fmla="val 1500"/>
            </a:avLst>
          </a:prstGeom>
          <a:solidFill>
            <a:srgbClr val="0B1B2B"/>
          </a:solidFill>
          <a:ln/>
        </p:spPr>
      </p:sp>
      <p:sp>
        <p:nvSpPr>
          <p:cNvPr id="29" name="Text 27"/>
          <p:cNvSpPr/>
          <p:nvPr/>
        </p:nvSpPr>
        <p:spPr>
          <a:xfrm>
            <a:off x="7955280" y="1325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D0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NFV MANO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138160" y="1828800"/>
            <a:ext cx="3291840" cy="1051560"/>
          </a:xfrm>
          <a:prstGeom prst="roundRect">
            <a:avLst>
              <a:gd name="adj" fmla="val 4348"/>
            </a:avLst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190195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(NFVO)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275320" y="2212848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service orchestration, network service lifecycle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138160" y="3063240"/>
            <a:ext cx="3291840" cy="1051560"/>
          </a:xfrm>
          <a:prstGeom prst="roundRect">
            <a:avLst>
              <a:gd name="adj" fmla="val 4348"/>
            </a:avLst>
          </a:prstGeom>
          <a:solidFill>
            <a:srgbClr val="1C7293"/>
          </a:solidFill>
          <a:ln/>
        </p:spPr>
      </p:sp>
      <p:sp>
        <p:nvSpPr>
          <p:cNvPr id="34" name="Text 32"/>
          <p:cNvSpPr/>
          <p:nvPr/>
        </p:nvSpPr>
        <p:spPr>
          <a:xfrm>
            <a:off x="8275320" y="31363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VNF Manager (VNFM)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275320" y="3447288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management of individual VNFs (instantiate, scale, heal)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138160" y="4297680"/>
            <a:ext cx="3291840" cy="1051560"/>
          </a:xfrm>
          <a:prstGeom prst="roundRect">
            <a:avLst>
              <a:gd name="adj" fmla="val 4348"/>
            </a:avLst>
          </a:prstGeom>
          <a:solidFill>
            <a:srgbClr val="1C7293"/>
          </a:solidFill>
          <a:ln/>
        </p:spPr>
      </p:sp>
      <p:sp>
        <p:nvSpPr>
          <p:cNvPr id="37" name="Text 35"/>
          <p:cNvSpPr/>
          <p:nvPr/>
        </p:nvSpPr>
        <p:spPr>
          <a:xfrm>
            <a:off x="8275320" y="437083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Virtualized Infra. Manager (VIM)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275320" y="4681728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&amp; monitors compute, storage, network resources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 coordinates orchestration across OSS/BSS, VNFs, and NFVI via standardized reference points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OSI Architecture and its Relation to NFV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3291840" cy="621792"/>
          </a:xfrm>
          <a:prstGeom prst="roundRect">
            <a:avLst>
              <a:gd name="adj" fmla="val 7353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34440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FD0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123444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929384"/>
            <a:ext cx="3291840" cy="621792"/>
          </a:xfrm>
          <a:prstGeom prst="roundRect">
            <a:avLst>
              <a:gd name="adj" fmla="val 7353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9384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FD0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929384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624328"/>
            <a:ext cx="3291840" cy="621792"/>
          </a:xfrm>
          <a:prstGeom prst="roundRect">
            <a:avLst>
              <a:gd name="adj" fmla="val 7353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624328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FD0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624328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319272"/>
            <a:ext cx="3291840" cy="621792"/>
          </a:xfrm>
          <a:prstGeom prst="roundRect">
            <a:avLst>
              <a:gd name="adj" fmla="val 7353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319272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FD0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319272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014216"/>
            <a:ext cx="3291840" cy="621792"/>
          </a:xfrm>
          <a:prstGeom prst="roundRect">
            <a:avLst>
              <a:gd name="adj" fmla="val 7353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014216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FD0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4014216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709160"/>
            <a:ext cx="3291840" cy="621792"/>
          </a:xfrm>
          <a:prstGeom prst="roundRect">
            <a:avLst>
              <a:gd name="adj" fmla="val 7353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709160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FD0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470916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Link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5404104"/>
            <a:ext cx="3291840" cy="621792"/>
          </a:xfrm>
          <a:prstGeom prst="roundRect">
            <a:avLst>
              <a:gd name="adj" fmla="val 7353"/>
            </a:avLst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404104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FD0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5404104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297680" y="1234440"/>
            <a:ext cx="73152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OSI (Open Systems Interconnection) model defines 7 standardized layers for network communication, from physical bit transmission up to application services.</a:t>
            </a:r>
            <a:endParaRPr lang="en-US" sz="1300" dirty="0"/>
          </a:p>
          <a:p>
            <a:pPr algn="l"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network appliances are tightly bound to specific layers in dedicated hardware — e.g. switches at Layer 2, routers at Layer 3, and firewalls/load balancers spanning Layers 3–7.</a:t>
            </a:r>
            <a:endParaRPr lang="en-US" sz="1300" dirty="0"/>
          </a:p>
          <a:p>
            <a:pPr algn="l"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NFV virtualizes these layer-specific functions in software, so a single COTS server can host VNFs operating at multiple OSI layers simultaneously (e.g. a virtual switch at L2 and a virtual firewall at L3–L7).</a:t>
            </a:r>
            <a:endParaRPr lang="en-US" sz="1300" dirty="0"/>
          </a:p>
          <a:p>
            <a:pPr algn="l"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Virtualization Layer / hypervisor effectively sits below Layer 1–2 of the VNF's view, presenting virtual NICs and virtual links that emulate the physical/data-link layers to the guest VNF.</a:t>
            </a:r>
            <a:endParaRPr lang="en-US" sz="1300" dirty="0"/>
          </a:p>
          <a:p>
            <a:pPr algn="l"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decoupling allows network services to be composed as a chain of VNFs (Service Function Chaining) that jointly implement multi-layer processing, independent of underlying hardware topology.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Benefits, Challenges &amp; 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212080" cy="3794760"/>
          </a:xfrm>
          <a:prstGeom prst="roundRect">
            <a:avLst>
              <a:gd name="adj" fmla="val 1687"/>
            </a:avLst>
          </a:prstGeom>
          <a:solidFill>
            <a:srgbClr val="13314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5087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FD0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CAPEX/OPEX — commodity servers replace costly proprietary appliances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service deployment and elastic, on-demand scaling of network functions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independence and flexible multi-tenant network operation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upgrades — software updates instead of hardware replacement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26480" y="1325880"/>
            <a:ext cx="5212080" cy="3794760"/>
          </a:xfrm>
          <a:prstGeom prst="roundRect">
            <a:avLst>
              <a:gd name="adj" fmla="val 1687"/>
            </a:avLst>
          </a:prstGeom>
          <a:solidFill>
            <a:srgbClr val="13314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15087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FD0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0" y="1920240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overhead from virtualization compared to dedicated hardware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orchestration and management across multi-vendor VNFs (MANO)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concerns from shared, multi-tenant virtualized infrastructure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Interoperability and standardization across different NFV platforms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349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FD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NFV transforms rigid, layer-bound hardware appliances into flexible software functions, reshaping how OSI-layer network services are deployed, managed, and scaled.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2026-07-15T01:32:25Z</dcterms:created>
  <dcterms:modified xsi:type="dcterms:W3CDTF">2026-07-15T01:32:25Z</dcterms:modified>
</cp:coreProperties>
</file>